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9"/>
    <p:restoredTop sz="94672"/>
  </p:normalViewPr>
  <p:slideViewPr>
    <p:cSldViewPr snapToGrid="0">
      <p:cViewPr varScale="1">
        <p:scale>
          <a:sx n="95" d="100"/>
          <a:sy n="95" d="100"/>
        </p:scale>
        <p:origin x="1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3A17-DCA3-CD45-DC46-FEE5F5B4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4063E-F251-FDA7-C2CF-A68F665E5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F053B-9FE7-26C3-3485-FF8F13552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6295A-B0A9-FF70-9982-FD6C2E8B2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8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27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754880"/>
            <a:ext cx="4572000" cy="4572000"/>
          </a:xfrm>
          <a:prstGeom prst="ellipse">
            <a:avLst/>
          </a:prstGeom>
          <a:ln w="12700">
            <a:solidFill>
              <a:srgbClr val="C9A24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5486400"/>
            <a:ext cx="3108960" cy="3108960"/>
          </a:xfrm>
          <a:prstGeom prst="ellipse">
            <a:avLst/>
          </a:prstGeom>
          <a:ln w="12700">
            <a:solidFill>
              <a:srgbClr val="C9A24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Learning Journey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10-month executive development program — from orientation to capstone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88720" y="1755648"/>
            <a:ext cx="0" cy="4517136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83080" y="138988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C9A24B"/>
          </a:solidFill>
          <a:ln w="12700">
            <a:solidFill>
              <a:srgbClr val="D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148132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Orientation Session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011680" y="1792224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launch · Goals &amp; cohort kickoff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29400" y="1600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0F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5256" y="1472184"/>
            <a:ext cx="566928" cy="566928"/>
          </a:xfrm>
          <a:prstGeom prst="ellipse">
            <a:avLst/>
          </a:prstGeom>
          <a:solidFill>
            <a:srgbClr val="FCFCFC"/>
          </a:solidFill>
          <a:ln w="28575">
            <a:solidFill>
              <a:srgbClr val="C9A24B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72768"/>
            <a:ext cx="36576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783080" y="2293315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182846"/>
          </a:solidFill>
          <a:ln w="9525">
            <a:solidFill>
              <a:srgbClr val="33456E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11680" y="2384755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· Self-Leadership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011680" y="2704795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· Personal effectiveness &amp; EQ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53912" y="2535631"/>
            <a:ext cx="841248" cy="246888"/>
          </a:xfrm>
          <a:prstGeom prst="roundRect">
            <a:avLst>
              <a:gd name="adj" fmla="val 22222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53912" y="2535631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F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068312" y="2535631"/>
            <a:ext cx="886968" cy="246888"/>
          </a:xfrm>
          <a:prstGeom prst="roundRect">
            <a:avLst>
              <a:gd name="adj" fmla="val 22222"/>
            </a:avLst>
          </a:prstGeom>
          <a:solidFill>
            <a:srgbClr val="0F1C36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68312" y="2535631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D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905256" y="2375611"/>
            <a:ext cx="566928" cy="566928"/>
          </a:xfrm>
          <a:prstGeom prst="ellipse">
            <a:avLst/>
          </a:prstGeom>
          <a:solidFill>
            <a:srgbClr val="FCFCFC"/>
          </a:solidFill>
          <a:ln w="28575">
            <a:solidFill>
              <a:srgbClr val="C9A24B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1" descr="icons/se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476195"/>
            <a:ext cx="365760" cy="3657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783080" y="3196742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182846"/>
          </a:solidFill>
          <a:ln w="9525">
            <a:solidFill>
              <a:srgbClr val="33456E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011680" y="328818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Leading Teams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2011680" y="360822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· Building high-performing teams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153912" y="3439058"/>
            <a:ext cx="841248" cy="246888"/>
          </a:xfrm>
          <a:prstGeom prst="roundRect">
            <a:avLst>
              <a:gd name="adj" fmla="val 22222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153912" y="343905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F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7068312" y="3439058"/>
            <a:ext cx="886968" cy="246888"/>
          </a:xfrm>
          <a:prstGeom prst="roundRect">
            <a:avLst>
              <a:gd name="adj" fmla="val 22222"/>
            </a:avLst>
          </a:prstGeom>
          <a:solidFill>
            <a:srgbClr val="0F1C36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7068312" y="3439058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D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905256" y="3279038"/>
            <a:ext cx="566928" cy="566928"/>
          </a:xfrm>
          <a:prstGeom prst="ellipse">
            <a:avLst/>
          </a:prstGeom>
          <a:solidFill>
            <a:srgbClr val="FCFCFC"/>
          </a:solidFill>
          <a:ln w="28575">
            <a:solidFill>
              <a:srgbClr val="C9A24B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2" descr="icons/tea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379622"/>
            <a:ext cx="365760" cy="36576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1783080" y="4100170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182846"/>
          </a:solidFill>
          <a:ln w="9525">
            <a:solidFill>
              <a:srgbClr val="33456E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2011680" y="419161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 · Strategic Thinking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2011680" y="451165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 · Vision, strategy &amp; decisions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153912" y="4342486"/>
            <a:ext cx="841248" cy="246888"/>
          </a:xfrm>
          <a:prstGeom prst="roundRect">
            <a:avLst>
              <a:gd name="adj" fmla="val 22222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153912" y="4342486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F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7068312" y="4342486"/>
            <a:ext cx="886968" cy="246888"/>
          </a:xfrm>
          <a:prstGeom prst="roundRect">
            <a:avLst>
              <a:gd name="adj" fmla="val 22222"/>
            </a:avLst>
          </a:prstGeom>
          <a:solidFill>
            <a:srgbClr val="0F1C36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068312" y="4342486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D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905256" y="4182466"/>
            <a:ext cx="566928" cy="566928"/>
          </a:xfrm>
          <a:prstGeom prst="ellipse">
            <a:avLst/>
          </a:prstGeom>
          <a:solidFill>
            <a:srgbClr val="FCFCFC"/>
          </a:solidFill>
          <a:ln w="28575">
            <a:solidFill>
              <a:srgbClr val="C9A24B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3" descr="icons/strate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83050"/>
            <a:ext cx="365760" cy="36576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1783080" y="5003597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182846"/>
          </a:solidFill>
          <a:ln w="9525">
            <a:solidFill>
              <a:srgbClr val="33456E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2011680" y="5095037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Leading Change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2011680" y="5415077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 · Driving organizational change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6153912" y="5245913"/>
            <a:ext cx="841248" cy="246888"/>
          </a:xfrm>
          <a:prstGeom prst="roundRect">
            <a:avLst>
              <a:gd name="adj" fmla="val 22222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6153912" y="5245913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F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750" dirty="0"/>
          </a:p>
        </p:txBody>
      </p:sp>
      <p:sp>
        <p:nvSpPr>
          <p:cNvPr id="45" name="Shape 39"/>
          <p:cNvSpPr/>
          <p:nvPr/>
        </p:nvSpPr>
        <p:spPr>
          <a:xfrm>
            <a:off x="7068312" y="5245913"/>
            <a:ext cx="886968" cy="246888"/>
          </a:xfrm>
          <a:prstGeom prst="roundRect">
            <a:avLst>
              <a:gd name="adj" fmla="val 22222"/>
            </a:avLst>
          </a:prstGeom>
          <a:solidFill>
            <a:srgbClr val="0F1C36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7068312" y="5245913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D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</a:t>
            </a:r>
            <a:endParaRPr lang="en-US" sz="750" dirty="0"/>
          </a:p>
        </p:txBody>
      </p:sp>
      <p:sp>
        <p:nvSpPr>
          <p:cNvPr id="47" name="Shape 41"/>
          <p:cNvSpPr/>
          <p:nvPr/>
        </p:nvSpPr>
        <p:spPr>
          <a:xfrm>
            <a:off x="905256" y="5085893"/>
            <a:ext cx="566928" cy="566928"/>
          </a:xfrm>
          <a:prstGeom prst="ellipse">
            <a:avLst/>
          </a:prstGeom>
          <a:solidFill>
            <a:srgbClr val="FCFCFC"/>
          </a:solidFill>
          <a:ln w="28575">
            <a:solidFill>
              <a:srgbClr val="C9A24B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4" descr="icons/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186477"/>
            <a:ext cx="365760" cy="36576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1783080" y="5907024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C9A24B"/>
          </a:solidFill>
          <a:ln w="12700">
            <a:solidFill>
              <a:srgbClr val="D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2011680" y="59984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Presentation</a:t>
            </a:r>
            <a:endParaRPr lang="en-US" sz="1350" dirty="0"/>
          </a:p>
        </p:txBody>
      </p:sp>
      <p:sp>
        <p:nvSpPr>
          <p:cNvPr id="51" name="Text 44"/>
          <p:cNvSpPr/>
          <p:nvPr/>
        </p:nvSpPr>
        <p:spPr>
          <a:xfrm>
            <a:off x="2011680" y="630936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showcase · Present capstone projects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6629400" y="61173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0F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905256" y="5989320"/>
            <a:ext cx="566928" cy="566928"/>
          </a:xfrm>
          <a:prstGeom prst="ellipse">
            <a:avLst/>
          </a:prstGeom>
          <a:solidFill>
            <a:srgbClr val="FCFCFC"/>
          </a:solidFill>
          <a:ln w="28575">
            <a:solidFill>
              <a:srgbClr val="C9A24B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Image 5" descr="icons/troph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6089904"/>
            <a:ext cx="365760" cy="365760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8275320" y="475488"/>
            <a:ext cx="3547872" cy="2249424"/>
          </a:xfrm>
          <a:prstGeom prst="roundRect">
            <a:avLst>
              <a:gd name="adj" fmla="val 2439"/>
            </a:avLst>
          </a:prstGeom>
          <a:solidFill>
            <a:srgbClr val="16243F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8503920" y="6035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8503920" y="10058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300" dirty="0"/>
          </a:p>
        </p:txBody>
      </p:sp>
      <p:sp>
        <p:nvSpPr>
          <p:cNvPr id="58" name="Text 50"/>
          <p:cNvSpPr/>
          <p:nvPr/>
        </p:nvSpPr>
        <p:spPr>
          <a:xfrm>
            <a:off x="9235440" y="1005840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Months, end to end</a:t>
            </a:r>
            <a:endParaRPr lang="en-US" sz="1050" dirty="0"/>
          </a:p>
        </p:txBody>
      </p:sp>
      <p:sp>
        <p:nvSpPr>
          <p:cNvPr id="59" name="Text 51"/>
          <p:cNvSpPr/>
          <p:nvPr/>
        </p:nvSpPr>
        <p:spPr>
          <a:xfrm>
            <a:off x="8503920" y="14081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Text 52"/>
          <p:cNvSpPr/>
          <p:nvPr/>
        </p:nvSpPr>
        <p:spPr>
          <a:xfrm>
            <a:off x="9235440" y="1408176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3 months apart</a:t>
            </a:r>
            <a:endParaRPr lang="en-US" sz="1050" dirty="0"/>
          </a:p>
        </p:txBody>
      </p:sp>
      <p:sp>
        <p:nvSpPr>
          <p:cNvPr id="61" name="Text 53"/>
          <p:cNvSpPr/>
          <p:nvPr/>
        </p:nvSpPr>
        <p:spPr>
          <a:xfrm>
            <a:off x="8503920" y="1810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300" dirty="0"/>
          </a:p>
        </p:txBody>
      </p:sp>
      <p:sp>
        <p:nvSpPr>
          <p:cNvPr id="62" name="Text 54"/>
          <p:cNvSpPr/>
          <p:nvPr/>
        </p:nvSpPr>
        <p:spPr>
          <a:xfrm>
            <a:off x="9235440" y="1810512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coaching tracks</a:t>
            </a:r>
            <a:endParaRPr lang="en-US" sz="1050" dirty="0"/>
          </a:p>
        </p:txBody>
      </p:sp>
      <p:sp>
        <p:nvSpPr>
          <p:cNvPr id="63" name="Text 55"/>
          <p:cNvSpPr/>
          <p:nvPr/>
        </p:nvSpPr>
        <p:spPr>
          <a:xfrm>
            <a:off x="8503920" y="221284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300" dirty="0"/>
          </a:p>
        </p:txBody>
      </p:sp>
      <p:sp>
        <p:nvSpPr>
          <p:cNvPr id="64" name="Text 56"/>
          <p:cNvSpPr/>
          <p:nvPr/>
        </p:nvSpPr>
        <p:spPr>
          <a:xfrm>
            <a:off x="9235440" y="2212848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&amp; post-work assignments</a:t>
            </a:r>
            <a:endParaRPr lang="en-US" sz="1050" dirty="0"/>
          </a:p>
        </p:txBody>
      </p:sp>
      <p:sp>
        <p:nvSpPr>
          <p:cNvPr id="65" name="Shape 57"/>
          <p:cNvSpPr/>
          <p:nvPr/>
        </p:nvSpPr>
        <p:spPr>
          <a:xfrm>
            <a:off x="8275320" y="2907792"/>
            <a:ext cx="3547872" cy="3547872"/>
          </a:xfrm>
          <a:prstGeom prst="roundRect">
            <a:avLst>
              <a:gd name="adj" fmla="val 1546"/>
            </a:avLst>
          </a:prstGeom>
          <a:solidFill>
            <a:srgbClr val="16243F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8"/>
          <p:cNvSpPr/>
          <p:nvPr/>
        </p:nvSpPr>
        <p:spPr>
          <a:xfrm>
            <a:off x="8503920" y="305409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TRACKS</a:t>
            </a:r>
            <a:endParaRPr lang="en-US" sz="1150" dirty="0"/>
          </a:p>
        </p:txBody>
      </p:sp>
      <p:sp>
        <p:nvSpPr>
          <p:cNvPr id="67" name="Text 59"/>
          <p:cNvSpPr/>
          <p:nvPr/>
        </p:nvSpPr>
        <p:spPr>
          <a:xfrm>
            <a:off x="8503920" y="33649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the final 6 months · Months 5–10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8503920" y="3959352"/>
            <a:ext cx="603504" cy="603504"/>
          </a:xfrm>
          <a:prstGeom prst="ellipse">
            <a:avLst/>
          </a:prstGeom>
          <a:solidFill>
            <a:srgbClr val="FCFCFC"/>
          </a:solidFill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6" descr="icons/coa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4078224"/>
            <a:ext cx="365760" cy="365760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9235440" y="392277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Coaching</a:t>
            </a:r>
            <a:endParaRPr lang="en-US" sz="1300" dirty="0"/>
          </a:p>
        </p:txBody>
      </p:sp>
      <p:sp>
        <p:nvSpPr>
          <p:cNvPr id="71" name="Text 62"/>
          <p:cNvSpPr/>
          <p:nvPr/>
        </p:nvSpPr>
        <p:spPr>
          <a:xfrm>
            <a:off x="9235440" y="4251960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leadership coaching</a:t>
            </a:r>
            <a:endParaRPr lang="en-US" sz="1000" dirty="0"/>
          </a:p>
        </p:txBody>
      </p:sp>
      <p:sp>
        <p:nvSpPr>
          <p:cNvPr id="72" name="Shape 63"/>
          <p:cNvSpPr/>
          <p:nvPr/>
        </p:nvSpPr>
        <p:spPr>
          <a:xfrm>
            <a:off x="8503920" y="5312664"/>
            <a:ext cx="603504" cy="603504"/>
          </a:xfrm>
          <a:prstGeom prst="ellipse">
            <a:avLst/>
          </a:prstGeom>
          <a:solidFill>
            <a:srgbClr val="FCFCFC"/>
          </a:solidFill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7" descr="icons/men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2792" y="5431536"/>
            <a:ext cx="365760" cy="365760"/>
          </a:xfrm>
          <a:prstGeom prst="rect">
            <a:avLst/>
          </a:prstGeom>
        </p:spPr>
      </p:pic>
      <p:sp>
        <p:nvSpPr>
          <p:cNvPr id="74" name="Text 64"/>
          <p:cNvSpPr/>
          <p:nvPr/>
        </p:nvSpPr>
        <p:spPr>
          <a:xfrm>
            <a:off x="9235440" y="5276088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Mentoring</a:t>
            </a:r>
            <a:endParaRPr lang="en-US" sz="1300" dirty="0"/>
          </a:p>
        </p:txBody>
      </p:sp>
      <p:sp>
        <p:nvSpPr>
          <p:cNvPr id="75" name="Text 65"/>
          <p:cNvSpPr/>
          <p:nvPr/>
        </p:nvSpPr>
        <p:spPr>
          <a:xfrm>
            <a:off x="9235440" y="5605272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senior mentors</a:t>
            </a:r>
            <a:endParaRPr lang="en-US" sz="1000" dirty="0"/>
          </a:p>
        </p:txBody>
      </p:sp>
      <p:sp>
        <p:nvSpPr>
          <p:cNvPr id="76" name="Text 66"/>
          <p:cNvSpPr/>
          <p:nvPr/>
        </p:nvSpPr>
        <p:spPr>
          <a:xfrm>
            <a:off x="8503920" y="588873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support Modules 3–4 and the capstone project.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9D36A-A638-EB82-02E9-A0F39A6B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FB4758-41EF-F33C-AFDD-992F09AAF02F}"/>
              </a:ext>
            </a:extLst>
          </p:cNvPr>
          <p:cNvSpPr/>
          <p:nvPr/>
        </p:nvSpPr>
        <p:spPr>
          <a:xfrm>
            <a:off x="-1828800" y="4754880"/>
            <a:ext cx="4572000" cy="4572000"/>
          </a:xfrm>
          <a:prstGeom prst="ellipse">
            <a:avLst/>
          </a:prstGeom>
          <a:ln w="12700">
            <a:solidFill>
              <a:srgbClr val="C9A24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D8966B-3C42-C8C0-6F5C-8861387EDC36}"/>
              </a:ext>
            </a:extLst>
          </p:cNvPr>
          <p:cNvSpPr/>
          <p:nvPr/>
        </p:nvSpPr>
        <p:spPr>
          <a:xfrm>
            <a:off x="-1097280" y="5486400"/>
            <a:ext cx="3108960" cy="3108960"/>
          </a:xfrm>
          <a:prstGeom prst="ellipse">
            <a:avLst/>
          </a:prstGeom>
          <a:ln w="12700">
            <a:solidFill>
              <a:srgbClr val="C9A24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E7A16C-0E5F-D863-9104-043D68819CB6}"/>
              </a:ext>
            </a:extLst>
          </p:cNvPr>
          <p:cNvSpPr/>
          <p:nvPr/>
        </p:nvSpPr>
        <p:spPr>
          <a:xfrm>
            <a:off x="548640" y="3657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Learning Journey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6A14B8-406D-CAE6-E38B-DCB99A1C76E9}"/>
              </a:ext>
            </a:extLst>
          </p:cNvPr>
          <p:cNvSpPr/>
          <p:nvPr/>
        </p:nvSpPr>
        <p:spPr>
          <a:xfrm>
            <a:off x="566928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10-month executive development program — from orientation to capstone</a:t>
            </a:r>
            <a:endParaRPr lang="en-US" sz="13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4D35CF2-A6C1-2319-455B-2B33B03AA126}"/>
              </a:ext>
            </a:extLst>
          </p:cNvPr>
          <p:cNvSpPr/>
          <p:nvPr/>
        </p:nvSpPr>
        <p:spPr>
          <a:xfrm>
            <a:off x="502792" y="1444752"/>
            <a:ext cx="7041007" cy="4956048"/>
          </a:xfrm>
          <a:prstGeom prst="roundRect">
            <a:avLst>
              <a:gd name="adj" fmla="val 10000"/>
            </a:avLst>
          </a:prstGeom>
          <a:solidFill>
            <a:srgbClr val="C9A24B"/>
          </a:solidFill>
          <a:ln w="12700">
            <a:solidFill>
              <a:srgbClr val="D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28000"/>
              </a:srgbClr>
            </a:outerShdw>
          </a:effectLst>
        </p:spPr>
        <p:txBody>
          <a:bodyPr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360 Feedback at the beginning of the Leadership journey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Module is like an independent workshop with L1 to L3 feedbacks and assignments.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Reflection Journal available to the participants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Participants Leaderboard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Capstone Projects in a group of 5 after the module-1, culminating in a presentation to the Business panel at the end of the Leadership journey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project group’s regular engagement and co-working</a:t>
            </a:r>
          </a:p>
        </p:txBody>
      </p:sp>
      <p:sp>
        <p:nvSpPr>
          <p:cNvPr id="55" name="Shape 47">
            <a:extLst>
              <a:ext uri="{FF2B5EF4-FFF2-40B4-BE49-F238E27FC236}">
                <a16:creationId xmlns:a16="http://schemas.microsoft.com/office/drawing/2014/main" id="{6B985C92-C561-AD93-C1C1-C04603CC4A36}"/>
              </a:ext>
            </a:extLst>
          </p:cNvPr>
          <p:cNvSpPr/>
          <p:nvPr/>
        </p:nvSpPr>
        <p:spPr>
          <a:xfrm>
            <a:off x="8275320" y="475488"/>
            <a:ext cx="3547872" cy="2249424"/>
          </a:xfrm>
          <a:prstGeom prst="roundRect">
            <a:avLst>
              <a:gd name="adj" fmla="val 2439"/>
            </a:avLst>
          </a:prstGeom>
          <a:solidFill>
            <a:srgbClr val="16243F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B5807DF4-8AEE-AB6E-2268-44936D3188B0}"/>
              </a:ext>
            </a:extLst>
          </p:cNvPr>
          <p:cNvSpPr/>
          <p:nvPr/>
        </p:nvSpPr>
        <p:spPr>
          <a:xfrm>
            <a:off x="8503920" y="6035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1150" dirty="0"/>
          </a:p>
        </p:txBody>
      </p:sp>
      <p:sp>
        <p:nvSpPr>
          <p:cNvPr id="57" name="Text 49">
            <a:extLst>
              <a:ext uri="{FF2B5EF4-FFF2-40B4-BE49-F238E27FC236}">
                <a16:creationId xmlns:a16="http://schemas.microsoft.com/office/drawing/2014/main" id="{1F2A0418-6888-A279-B581-815BA10C7858}"/>
              </a:ext>
            </a:extLst>
          </p:cNvPr>
          <p:cNvSpPr/>
          <p:nvPr/>
        </p:nvSpPr>
        <p:spPr>
          <a:xfrm>
            <a:off x="8503920" y="10058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300" dirty="0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83340F75-4346-F3EC-ECA4-CFE238996CB9}"/>
              </a:ext>
            </a:extLst>
          </p:cNvPr>
          <p:cNvSpPr/>
          <p:nvPr/>
        </p:nvSpPr>
        <p:spPr>
          <a:xfrm>
            <a:off x="9235440" y="1005840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Months, end to end</a:t>
            </a:r>
            <a:endParaRPr lang="en-US" sz="10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FFAE32ED-EC75-18B6-164A-463228E419F4}"/>
              </a:ext>
            </a:extLst>
          </p:cNvPr>
          <p:cNvSpPr/>
          <p:nvPr/>
        </p:nvSpPr>
        <p:spPr>
          <a:xfrm>
            <a:off x="8503920" y="14081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Text 52">
            <a:extLst>
              <a:ext uri="{FF2B5EF4-FFF2-40B4-BE49-F238E27FC236}">
                <a16:creationId xmlns:a16="http://schemas.microsoft.com/office/drawing/2014/main" id="{40C405BC-4A56-EDBE-518D-AEE1626F320F}"/>
              </a:ext>
            </a:extLst>
          </p:cNvPr>
          <p:cNvSpPr/>
          <p:nvPr/>
        </p:nvSpPr>
        <p:spPr>
          <a:xfrm>
            <a:off x="9235440" y="1408176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3 months apart</a:t>
            </a:r>
            <a:endParaRPr lang="en-US" sz="1050" dirty="0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0C52D4F9-70A2-A5D8-C700-0EC3DC087D53}"/>
              </a:ext>
            </a:extLst>
          </p:cNvPr>
          <p:cNvSpPr/>
          <p:nvPr/>
        </p:nvSpPr>
        <p:spPr>
          <a:xfrm>
            <a:off x="8503920" y="1810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30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464D2D90-5D62-7D95-1E2D-9E9D64559A7E}"/>
              </a:ext>
            </a:extLst>
          </p:cNvPr>
          <p:cNvSpPr/>
          <p:nvPr/>
        </p:nvSpPr>
        <p:spPr>
          <a:xfrm>
            <a:off x="9235440" y="1810512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coaching tracks</a:t>
            </a:r>
            <a:endParaRPr lang="en-US" sz="1050" dirty="0"/>
          </a:p>
        </p:txBody>
      </p:sp>
      <p:sp>
        <p:nvSpPr>
          <p:cNvPr id="63" name="Text 55">
            <a:extLst>
              <a:ext uri="{FF2B5EF4-FFF2-40B4-BE49-F238E27FC236}">
                <a16:creationId xmlns:a16="http://schemas.microsoft.com/office/drawing/2014/main" id="{37970C8F-4128-7158-31C6-8A3333547A88}"/>
              </a:ext>
            </a:extLst>
          </p:cNvPr>
          <p:cNvSpPr/>
          <p:nvPr/>
        </p:nvSpPr>
        <p:spPr>
          <a:xfrm>
            <a:off x="8503920" y="221284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300" dirty="0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34BC2409-C6F1-8458-3610-3F19E2265C3E}"/>
              </a:ext>
            </a:extLst>
          </p:cNvPr>
          <p:cNvSpPr/>
          <p:nvPr/>
        </p:nvSpPr>
        <p:spPr>
          <a:xfrm>
            <a:off x="9235440" y="2212848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&amp; post-work assignments</a:t>
            </a:r>
            <a:endParaRPr lang="en-US" sz="1050" dirty="0"/>
          </a:p>
        </p:txBody>
      </p:sp>
      <p:sp>
        <p:nvSpPr>
          <p:cNvPr id="65" name="Shape 57">
            <a:extLst>
              <a:ext uri="{FF2B5EF4-FFF2-40B4-BE49-F238E27FC236}">
                <a16:creationId xmlns:a16="http://schemas.microsoft.com/office/drawing/2014/main" id="{1A6BC3B5-1F6F-6308-BE26-F2709359B92E}"/>
              </a:ext>
            </a:extLst>
          </p:cNvPr>
          <p:cNvSpPr/>
          <p:nvPr/>
        </p:nvSpPr>
        <p:spPr>
          <a:xfrm>
            <a:off x="8275320" y="2907792"/>
            <a:ext cx="3547872" cy="3547872"/>
          </a:xfrm>
          <a:prstGeom prst="roundRect">
            <a:avLst>
              <a:gd name="adj" fmla="val 1546"/>
            </a:avLst>
          </a:prstGeom>
          <a:solidFill>
            <a:srgbClr val="16243F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8">
            <a:extLst>
              <a:ext uri="{FF2B5EF4-FFF2-40B4-BE49-F238E27FC236}">
                <a16:creationId xmlns:a16="http://schemas.microsoft.com/office/drawing/2014/main" id="{8E2FCE36-4B5D-721E-D604-1408F0B8E14C}"/>
              </a:ext>
            </a:extLst>
          </p:cNvPr>
          <p:cNvSpPr/>
          <p:nvPr/>
        </p:nvSpPr>
        <p:spPr>
          <a:xfrm>
            <a:off x="8503920" y="305409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TRACKS</a:t>
            </a:r>
            <a:endParaRPr lang="en-US" sz="1150" dirty="0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398186FC-D745-5F76-40FA-98329EF8EFDD}"/>
              </a:ext>
            </a:extLst>
          </p:cNvPr>
          <p:cNvSpPr/>
          <p:nvPr/>
        </p:nvSpPr>
        <p:spPr>
          <a:xfrm>
            <a:off x="8503920" y="33649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the final 6 months · Months 5–10</a:t>
            </a:r>
            <a:endParaRPr lang="en-US" sz="950" dirty="0"/>
          </a:p>
        </p:txBody>
      </p:sp>
      <p:sp>
        <p:nvSpPr>
          <p:cNvPr id="68" name="Shape 60">
            <a:extLst>
              <a:ext uri="{FF2B5EF4-FFF2-40B4-BE49-F238E27FC236}">
                <a16:creationId xmlns:a16="http://schemas.microsoft.com/office/drawing/2014/main" id="{C3434E97-ABC0-0949-BF63-0EB63E6C4E8E}"/>
              </a:ext>
            </a:extLst>
          </p:cNvPr>
          <p:cNvSpPr/>
          <p:nvPr/>
        </p:nvSpPr>
        <p:spPr>
          <a:xfrm>
            <a:off x="8503920" y="3959352"/>
            <a:ext cx="603504" cy="603504"/>
          </a:xfrm>
          <a:prstGeom prst="ellipse">
            <a:avLst/>
          </a:prstGeom>
          <a:solidFill>
            <a:srgbClr val="FCFCFC"/>
          </a:solidFill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6" descr="icons/coach.png">
            <a:extLst>
              <a:ext uri="{FF2B5EF4-FFF2-40B4-BE49-F238E27FC236}">
                <a16:creationId xmlns:a16="http://schemas.microsoft.com/office/drawing/2014/main" id="{D7623CE9-9324-15CF-794B-273305345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4078224"/>
            <a:ext cx="365760" cy="365760"/>
          </a:xfrm>
          <a:prstGeom prst="rect">
            <a:avLst/>
          </a:prstGeom>
        </p:spPr>
      </p:pic>
      <p:sp>
        <p:nvSpPr>
          <p:cNvPr id="70" name="Text 61">
            <a:extLst>
              <a:ext uri="{FF2B5EF4-FFF2-40B4-BE49-F238E27FC236}">
                <a16:creationId xmlns:a16="http://schemas.microsoft.com/office/drawing/2014/main" id="{ECE10AD1-8F91-9DDA-951A-AAF189B1CB0F}"/>
              </a:ext>
            </a:extLst>
          </p:cNvPr>
          <p:cNvSpPr/>
          <p:nvPr/>
        </p:nvSpPr>
        <p:spPr>
          <a:xfrm>
            <a:off x="9235440" y="392277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Coaching</a:t>
            </a:r>
            <a:endParaRPr lang="en-US" sz="1300" dirty="0"/>
          </a:p>
        </p:txBody>
      </p:sp>
      <p:sp>
        <p:nvSpPr>
          <p:cNvPr id="71" name="Text 62">
            <a:extLst>
              <a:ext uri="{FF2B5EF4-FFF2-40B4-BE49-F238E27FC236}">
                <a16:creationId xmlns:a16="http://schemas.microsoft.com/office/drawing/2014/main" id="{1CCDFDF2-E856-62EC-8D9A-571DDF52698F}"/>
              </a:ext>
            </a:extLst>
          </p:cNvPr>
          <p:cNvSpPr/>
          <p:nvPr/>
        </p:nvSpPr>
        <p:spPr>
          <a:xfrm>
            <a:off x="9235440" y="4251960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leadership coaching</a:t>
            </a:r>
            <a:endParaRPr lang="en-US" sz="1000" dirty="0"/>
          </a:p>
        </p:txBody>
      </p:sp>
      <p:sp>
        <p:nvSpPr>
          <p:cNvPr id="72" name="Shape 63">
            <a:extLst>
              <a:ext uri="{FF2B5EF4-FFF2-40B4-BE49-F238E27FC236}">
                <a16:creationId xmlns:a16="http://schemas.microsoft.com/office/drawing/2014/main" id="{042FBA5C-21AD-C97B-C459-15A41FA8C30B}"/>
              </a:ext>
            </a:extLst>
          </p:cNvPr>
          <p:cNvSpPr/>
          <p:nvPr/>
        </p:nvSpPr>
        <p:spPr>
          <a:xfrm>
            <a:off x="8503920" y="5312664"/>
            <a:ext cx="603504" cy="603504"/>
          </a:xfrm>
          <a:prstGeom prst="ellipse">
            <a:avLst/>
          </a:prstGeom>
          <a:solidFill>
            <a:srgbClr val="FCFCFC"/>
          </a:solidFill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7" descr="icons/mentor.png">
            <a:extLst>
              <a:ext uri="{FF2B5EF4-FFF2-40B4-BE49-F238E27FC236}">
                <a16:creationId xmlns:a16="http://schemas.microsoft.com/office/drawing/2014/main" id="{85DAB58B-132C-F194-EB59-78F33A19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5431536"/>
            <a:ext cx="365760" cy="365760"/>
          </a:xfrm>
          <a:prstGeom prst="rect">
            <a:avLst/>
          </a:prstGeom>
        </p:spPr>
      </p:pic>
      <p:sp>
        <p:nvSpPr>
          <p:cNvPr id="74" name="Text 64">
            <a:extLst>
              <a:ext uri="{FF2B5EF4-FFF2-40B4-BE49-F238E27FC236}">
                <a16:creationId xmlns:a16="http://schemas.microsoft.com/office/drawing/2014/main" id="{20CDEECE-0EDD-7772-08FF-854D419B35A7}"/>
              </a:ext>
            </a:extLst>
          </p:cNvPr>
          <p:cNvSpPr/>
          <p:nvPr/>
        </p:nvSpPr>
        <p:spPr>
          <a:xfrm>
            <a:off x="9235440" y="5276088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Mentoring</a:t>
            </a:r>
            <a:endParaRPr lang="en-US" sz="1300" dirty="0"/>
          </a:p>
        </p:txBody>
      </p:sp>
      <p:sp>
        <p:nvSpPr>
          <p:cNvPr id="75" name="Text 65">
            <a:extLst>
              <a:ext uri="{FF2B5EF4-FFF2-40B4-BE49-F238E27FC236}">
                <a16:creationId xmlns:a16="http://schemas.microsoft.com/office/drawing/2014/main" id="{5BD7AF90-B73A-43C8-E619-5C01F44CCBC1}"/>
              </a:ext>
            </a:extLst>
          </p:cNvPr>
          <p:cNvSpPr/>
          <p:nvPr/>
        </p:nvSpPr>
        <p:spPr>
          <a:xfrm>
            <a:off x="9235440" y="5605272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senior mentors</a:t>
            </a:r>
            <a:endParaRPr lang="en-US" sz="1000" dirty="0"/>
          </a:p>
        </p:txBody>
      </p:sp>
      <p:sp>
        <p:nvSpPr>
          <p:cNvPr id="76" name="Text 66">
            <a:extLst>
              <a:ext uri="{FF2B5EF4-FFF2-40B4-BE49-F238E27FC236}">
                <a16:creationId xmlns:a16="http://schemas.microsoft.com/office/drawing/2014/main" id="{4A5E9817-5F2C-FEEC-C1ED-75F87E6FACFE}"/>
              </a:ext>
            </a:extLst>
          </p:cNvPr>
          <p:cNvSpPr/>
          <p:nvPr/>
        </p:nvSpPr>
        <p:spPr>
          <a:xfrm>
            <a:off x="8503920" y="588873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support Modules 3–4 and the capstone project.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5230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280</Words>
  <Application>Microsoft Macintosh PowerPoint</Application>
  <PresentationFormat>Custom</PresentationFormat>
  <Paragraphs>66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Sinha</dc:creator>
  <cp:lastModifiedBy>Alok Sinha</cp:lastModifiedBy>
  <cp:revision>1</cp:revision>
  <dcterms:created xsi:type="dcterms:W3CDTF">2026-06-26T13:44:53Z</dcterms:created>
  <dcterms:modified xsi:type="dcterms:W3CDTF">2026-06-26T14:08:01Z</dcterms:modified>
</cp:coreProperties>
</file>